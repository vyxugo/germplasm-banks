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18" d="100"/>
          <a:sy n="218" d="100"/>
        </p:scale>
        <p:origin x="-8760" y="-58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BC329-5470-5487-25E9-F8C1E79B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CF75D6-37F1-4859-45EB-43FA868AF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3913DC-7AE6-1BBA-6DAB-4E35B5DF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1DA43A-84A3-FAE9-A5C7-A9644E08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5B919F-DC7C-8441-704C-9CCDD1F4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77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8A072-83AF-16A2-18AB-7A08AE96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7A8F9-01ED-093F-65C1-438E6EEE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DB322-5829-37A4-4B84-BD71CDE68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95EBBB-6A8C-F64F-925D-DFAC6079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4C582F-4F55-FF50-DE59-84A264F3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431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BF6BB-DB69-B90C-377B-0D0ED33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604A7C-4AE4-C30F-676A-521A31DBD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C9BA17-560B-DD5B-D7EC-55B4CADF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86F571-D69E-F681-2B97-F475BAC5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00DB1-4F74-7C62-BC67-CED63457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559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272D3-4F0C-C96E-17DD-2B6D081D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B8B310-82DC-9D3D-42CE-378742AB7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902688-DF52-5256-9C44-DE107238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83D129-AB55-6C76-E675-BD5E12F03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9C932D-146C-4DAA-735B-CE15249C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32F65F-3DD9-F499-221F-D0D13D9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423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F1D56-2FF4-91B8-7EFF-F2EBE596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58C0A3-72A9-BDE9-A179-92FC365A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892FEB-6972-94E4-CCDE-8DC190AB1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120FBE-9406-F259-3FE7-53C59CA39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F5375A-99D6-8FF0-A398-AC64CD717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CD92E83-C230-4885-DCBE-DC5AF5581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7FDED4-7DAB-BC70-9155-8BACEE83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929066C-A17E-4EED-4161-1909E415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876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D36F6-16E9-EE07-3D4F-1CAB7A31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49D19A-971E-D26B-E580-9E616D7E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824415-A670-96CF-1D57-0E4E3E36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8528DA-37BA-6455-AB67-196D88F3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13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7E7534-466A-33B1-B37E-04834C08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B0B885-840E-3576-7B2C-28EB915E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3886A8-2C52-D521-F2FB-0CD8AA80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149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DAAFF-B2AE-926D-31DC-4883E83C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425C91-A130-1204-727C-007831C6C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31717C-E580-FFB1-84D0-118ACC560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D4D5AB-E86F-B365-CAA5-60D65253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7EC3FB-E773-5514-DE55-571CFECA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A09888-705E-26C2-DAFF-0297D2AE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62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CD52D-C8A0-9AB2-346E-66A3D03A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126602-FD6E-51F0-123B-F22D2A604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806768-FC08-7C98-F01A-1614883C8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194EC5-4949-55AB-0AF4-240430BF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C013F-F931-B148-2140-18295526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4B3FDC-41A8-5EAD-DD96-FF6026D2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129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D919B-3590-9D2E-2BC2-822A4350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89FDAD-6C5F-56ED-0460-BB92453DE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3397C2-DA9E-E4CC-D313-AB4B6A63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38E1E-D86F-FC59-1D6A-4AE05EE0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341A3E-D9C7-343E-CE06-1E0A0B1A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248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B09D6C-6A9B-A8B0-5FEA-1AE68CFC2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B07174-DD43-4D8F-5B1B-0A5AE357C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CC522F-A2D1-23B7-663D-7C1A9C84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379961-9CB8-D17E-A064-179276A8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8933DE-86B8-342B-8344-4F0866FC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823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128F68-12B5-58F1-46BF-709FB051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FD9260-AAB8-3AB7-852F-BAEB0518C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D8CFE5-B22F-F2FD-EC54-F77D658EF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99B3C-C7F8-48EA-8E06-FFB825026C55}" type="datetimeFigureOut">
              <a:rPr lang="es-PE" smtClean="0"/>
              <a:t>15/07/2026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0D83E5-9996-5A2E-F774-9D49959A1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F26C3D-F9C6-55A9-105F-1F11BD125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18588-D568-4F0B-A741-304A385E0F0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467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53BA94C-6D41-7382-DEE1-42EC2F20EEF8}"/>
              </a:ext>
            </a:extLst>
          </p:cNvPr>
          <p:cNvSpPr/>
          <p:nvPr/>
        </p:nvSpPr>
        <p:spPr>
          <a:xfrm>
            <a:off x="1539551" y="466531"/>
            <a:ext cx="2248678" cy="4292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800" b="1" dirty="0"/>
              <a:t>IDENTIFICATION</a:t>
            </a:r>
            <a:endParaRPr lang="es-PE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36FA7B6-991B-48D4-0257-7D565DA3ADDD}"/>
              </a:ext>
            </a:extLst>
          </p:cNvPr>
          <p:cNvSpPr/>
          <p:nvPr/>
        </p:nvSpPr>
        <p:spPr>
          <a:xfrm>
            <a:off x="1539551" y="1172514"/>
            <a:ext cx="2248678" cy="5535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800" b="1" dirty="0"/>
              <a:t>SCOPUS SCREENING</a:t>
            </a:r>
            <a:endParaRPr lang="es-PE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79124A5-D9AD-EAFB-AEA5-B9745D72C134}"/>
              </a:ext>
            </a:extLst>
          </p:cNvPr>
          <p:cNvSpPr/>
          <p:nvPr/>
        </p:nvSpPr>
        <p:spPr>
          <a:xfrm>
            <a:off x="1539551" y="1878497"/>
            <a:ext cx="2248678" cy="7900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APPLICATION OF INCLUSION CRITERIA</a:t>
            </a:r>
            <a:endParaRPr lang="es-PE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01012B8-5AB8-28B1-BF05-62BEB86AD323}"/>
              </a:ext>
            </a:extLst>
          </p:cNvPr>
          <p:cNvSpPr/>
          <p:nvPr/>
        </p:nvSpPr>
        <p:spPr>
          <a:xfrm>
            <a:off x="1539551" y="2820956"/>
            <a:ext cx="2248678" cy="4292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800" b="1" dirty="0"/>
              <a:t>EXPORT OF DATA</a:t>
            </a:r>
            <a:endParaRPr lang="es-PE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F37197-860C-CBE0-CB3A-762BAC9D08B6}"/>
              </a:ext>
            </a:extLst>
          </p:cNvPr>
          <p:cNvSpPr/>
          <p:nvPr/>
        </p:nvSpPr>
        <p:spPr>
          <a:xfrm>
            <a:off x="1539551" y="3573626"/>
            <a:ext cx="2248678" cy="606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800" b="1" dirty="0"/>
              <a:t>DUPLICATE REMOVAL</a:t>
            </a:r>
            <a:endParaRPr lang="es-PE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DF68254-22AB-3842-135A-C59EC39ED3AC}"/>
              </a:ext>
            </a:extLst>
          </p:cNvPr>
          <p:cNvSpPr/>
          <p:nvPr/>
        </p:nvSpPr>
        <p:spPr>
          <a:xfrm>
            <a:off x="1539551" y="4450670"/>
            <a:ext cx="2248678" cy="4292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800" b="1" dirty="0"/>
              <a:t>INCLUDED</a:t>
            </a:r>
            <a:endParaRPr lang="es-PE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5BE5E10-873B-11C2-F9F8-153355F72A24}"/>
              </a:ext>
            </a:extLst>
          </p:cNvPr>
          <p:cNvSpPr/>
          <p:nvPr/>
        </p:nvSpPr>
        <p:spPr>
          <a:xfrm>
            <a:off x="4180115" y="416735"/>
            <a:ext cx="5215812" cy="705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Document retrieval in Scopus (20 July 2026): </a:t>
            </a:r>
            <a:r>
              <a:rPr lang="en-US" sz="1800" b="1" dirty="0"/>
              <a:t>222 records</a:t>
            </a:r>
            <a:endParaRPr lang="en-US" sz="1800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E3B004B-F993-A35E-496A-16610AFCD182}"/>
              </a:ext>
            </a:extLst>
          </p:cNvPr>
          <p:cNvSpPr/>
          <p:nvPr/>
        </p:nvSpPr>
        <p:spPr>
          <a:xfrm>
            <a:off x="4180115" y="1220708"/>
            <a:ext cx="5215812" cy="1121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Subject area filters applied (Agricultural and Biological Sciences; Biochemistry, Genetics and Molecular Biology): </a:t>
            </a:r>
            <a:r>
              <a:rPr lang="en-US" sz="1800" b="1" dirty="0"/>
              <a:t>206 </a:t>
            </a:r>
            <a:r>
              <a:rPr lang="en-US" sz="1800" b="1" dirty="0" err="1"/>
              <a:t>records</a:t>
            </a:r>
            <a:r>
              <a:rPr lang="en-US" sz="1800" dirty="0" err="1"/>
              <a:t>Exclusion</a:t>
            </a:r>
            <a:r>
              <a:rPr lang="en-US" sz="1800" dirty="0"/>
              <a:t> of review articles: </a:t>
            </a:r>
            <a:r>
              <a:rPr lang="en-US" sz="1800" b="1" dirty="0"/>
              <a:t>201 records</a:t>
            </a:r>
            <a:endParaRPr lang="en-US" sz="180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903D438-8973-9317-6020-502245379B4E}"/>
              </a:ext>
            </a:extLst>
          </p:cNvPr>
          <p:cNvSpPr/>
          <p:nvPr/>
        </p:nvSpPr>
        <p:spPr>
          <a:xfrm>
            <a:off x="4180115" y="2593945"/>
            <a:ext cx="5215812" cy="705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Evaluation of titles and abstracts according to the predefined inclusion criteria: </a:t>
            </a:r>
            <a:r>
              <a:rPr lang="en-US" sz="1800" b="1" dirty="0"/>
              <a:t>160 records</a:t>
            </a:r>
            <a:endParaRPr lang="en-US" sz="18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B985840-817F-5A1D-A1A0-F9577BCD629E}"/>
              </a:ext>
            </a:extLst>
          </p:cNvPr>
          <p:cNvSpPr/>
          <p:nvPr/>
        </p:nvSpPr>
        <p:spPr>
          <a:xfrm>
            <a:off x="4180115" y="3992595"/>
            <a:ext cx="5215812" cy="705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Export of eligible records from Scopus in CSV format: </a:t>
            </a:r>
            <a:r>
              <a:rPr lang="en-US" sz="1800" b="1" dirty="0"/>
              <a:t>160 records</a:t>
            </a:r>
            <a:endParaRPr lang="en-US" sz="1800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EEA8D97-16B4-86C1-8E71-E45B77209C97}"/>
              </a:ext>
            </a:extLst>
          </p:cNvPr>
          <p:cNvSpPr/>
          <p:nvPr/>
        </p:nvSpPr>
        <p:spPr>
          <a:xfrm>
            <a:off x="4180115" y="5055530"/>
            <a:ext cx="5215812" cy="705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Duplicate records identified using DOI: </a:t>
            </a:r>
            <a:r>
              <a:rPr lang="en-US" sz="1800" b="1" dirty="0"/>
              <a:t>3 records</a:t>
            </a:r>
            <a:endParaRPr lang="en-US" sz="18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CEA0546-7857-58C6-BD95-420DB7FDE19F}"/>
              </a:ext>
            </a:extLst>
          </p:cNvPr>
          <p:cNvSpPr/>
          <p:nvPr/>
        </p:nvSpPr>
        <p:spPr>
          <a:xfrm>
            <a:off x="4180115" y="5993274"/>
            <a:ext cx="5215812" cy="705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Final records included in the bibliometric analysis: </a:t>
            </a:r>
            <a:r>
              <a:rPr lang="en-US" sz="1800" b="1" dirty="0"/>
              <a:t>157 documents</a:t>
            </a:r>
            <a:endParaRPr lang="en-US" sz="1800" dirty="0"/>
          </a:p>
        </p:txBody>
      </p:sp>
      <p:sp>
        <p:nvSpPr>
          <p:cNvPr id="19" name="AutoShape 2" descr="Diagrama de flujo de trabajo investigación">
            <a:extLst>
              <a:ext uri="{FF2B5EF4-FFF2-40B4-BE49-F238E27FC236}">
                <a16:creationId xmlns:a16="http://schemas.microsoft.com/office/drawing/2014/main" id="{CAD81380-A4DF-199B-6C3B-30D5681679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755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upo 73">
            <a:extLst>
              <a:ext uri="{FF2B5EF4-FFF2-40B4-BE49-F238E27FC236}">
                <a16:creationId xmlns:a16="http://schemas.microsoft.com/office/drawing/2014/main" id="{53B90D6E-C332-2AC1-545D-0BAD5284BF56}"/>
              </a:ext>
            </a:extLst>
          </p:cNvPr>
          <p:cNvGrpSpPr/>
          <p:nvPr/>
        </p:nvGrpSpPr>
        <p:grpSpPr>
          <a:xfrm>
            <a:off x="4894636" y="0"/>
            <a:ext cx="5367509" cy="6514190"/>
            <a:chOff x="5468214" y="27470"/>
            <a:chExt cx="5367509" cy="6514190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25135119-FEC2-D2EF-04A6-DD81FFE71FFF}"/>
                </a:ext>
              </a:extLst>
            </p:cNvPr>
            <p:cNvSpPr/>
            <p:nvPr/>
          </p:nvSpPr>
          <p:spPr>
            <a:xfrm>
              <a:off x="6096000" y="104904"/>
              <a:ext cx="1802860" cy="551138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222 records identified from Scopus (6 July 2026)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5FBF7C32-27A3-18B9-CA1D-3B2904908ED8}"/>
                </a:ext>
              </a:extLst>
            </p:cNvPr>
            <p:cNvSpPr/>
            <p:nvPr/>
          </p:nvSpPr>
          <p:spPr>
            <a:xfrm>
              <a:off x="5626464" y="846839"/>
              <a:ext cx="2741925" cy="655870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206 records after applying subject area filters (Agricultural and Biological Sciences; Biochemistry, Genetics and Molecular Biology)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5D6C99F9-C622-A277-7AF2-A73B5DEF9837}"/>
                </a:ext>
              </a:extLst>
            </p:cNvPr>
            <p:cNvSpPr/>
            <p:nvPr/>
          </p:nvSpPr>
          <p:spPr>
            <a:xfrm>
              <a:off x="6084967" y="1681373"/>
              <a:ext cx="1802860" cy="526248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201 records after excluding review articles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C5DF0FCF-1E6C-4F3B-CC82-763A757D4FE6}"/>
                </a:ext>
              </a:extLst>
            </p:cNvPr>
            <p:cNvSpPr/>
            <p:nvPr/>
          </p:nvSpPr>
          <p:spPr>
            <a:xfrm>
              <a:off x="5614140" y="2438770"/>
              <a:ext cx="2744514" cy="65587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160 records after evaluation of titles and abstracts according to the predefined inclusion criteria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C6B83DBC-4F6A-12CE-ACBE-AFF95A602E2D}"/>
                </a:ext>
              </a:extLst>
            </p:cNvPr>
            <p:cNvSpPr/>
            <p:nvPr/>
          </p:nvSpPr>
          <p:spPr>
            <a:xfrm>
              <a:off x="6101509" y="3307171"/>
              <a:ext cx="1802860" cy="483092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160 eligible records exported in CSV format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96650E2-5282-C389-3220-EB0977FBAD07}"/>
                </a:ext>
              </a:extLst>
            </p:cNvPr>
            <p:cNvSpPr/>
            <p:nvPr/>
          </p:nvSpPr>
          <p:spPr>
            <a:xfrm>
              <a:off x="6101510" y="3969703"/>
              <a:ext cx="1802860" cy="483092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Duplicate records identified based on DOI (n = 3)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E4A86A84-2A12-B53A-B85E-A791FDE494AB}"/>
                </a:ext>
              </a:extLst>
            </p:cNvPr>
            <p:cNvSpPr/>
            <p:nvPr/>
          </p:nvSpPr>
          <p:spPr>
            <a:xfrm>
              <a:off x="6101509" y="4605557"/>
              <a:ext cx="1802861" cy="496759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157 documents included in the bibliometric analysis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A997C4C8-95A4-E655-6347-F24C34791874}"/>
                </a:ext>
              </a:extLst>
            </p:cNvPr>
            <p:cNvSpPr/>
            <p:nvPr/>
          </p:nvSpPr>
          <p:spPr>
            <a:xfrm>
              <a:off x="6105728" y="5347384"/>
              <a:ext cx="1802861" cy="681431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Data preprocessing (duplicate checking and metadata standardization)</a:t>
              </a:r>
              <a:endParaRPr lang="es-PE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9F945F5E-C825-B548-E968-B2781FA98AE0}"/>
                </a:ext>
              </a:extLst>
            </p:cNvPr>
            <p:cNvSpPr/>
            <p:nvPr/>
          </p:nvSpPr>
          <p:spPr>
            <a:xfrm>
              <a:off x="6095995" y="6173297"/>
              <a:ext cx="1802861" cy="313693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000" dirty="0" err="1">
                  <a:solidFill>
                    <a:schemeClr val="tx1"/>
                  </a:solidFill>
                  <a:cs typeface="Arial" panose="020B0604020202020204" pitchFamily="34" charset="0"/>
                </a:rPr>
                <a:t>Bibliometric</a:t>
              </a:r>
              <a:r>
                <a:rPr lang="es-PE" sz="10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lang="es-PE" sz="1000" dirty="0" err="1">
                  <a:solidFill>
                    <a:schemeClr val="tx1"/>
                  </a:solidFill>
                  <a:cs typeface="Arial" panose="020B0604020202020204" pitchFamily="34" charset="0"/>
                </a:rPr>
                <a:t>analysis</a:t>
              </a:r>
              <a:r>
                <a:rPr lang="es-PE" sz="10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93C9EC8-6A3B-07E7-DFC3-848F27EA977A}"/>
                </a:ext>
              </a:extLst>
            </p:cNvPr>
            <p:cNvSpPr/>
            <p:nvPr/>
          </p:nvSpPr>
          <p:spPr>
            <a:xfrm>
              <a:off x="5488338" y="27470"/>
              <a:ext cx="3018179" cy="2241753"/>
            </a:xfrm>
            <a:prstGeom prst="roundRect">
              <a:avLst>
                <a:gd name="adj" fmla="val 4226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951400A4-0157-D47D-1E87-C01F60A61F03}"/>
                </a:ext>
              </a:extLst>
            </p:cNvPr>
            <p:cNvSpPr/>
            <p:nvPr/>
          </p:nvSpPr>
          <p:spPr>
            <a:xfrm>
              <a:off x="5488338" y="2354584"/>
              <a:ext cx="3018179" cy="2792630"/>
            </a:xfrm>
            <a:prstGeom prst="roundRect">
              <a:avLst>
                <a:gd name="adj" fmla="val 4226"/>
              </a:avLst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38CF378E-226A-2175-4471-C11AEC2A6DAB}"/>
                </a:ext>
              </a:extLst>
            </p:cNvPr>
            <p:cNvSpPr/>
            <p:nvPr/>
          </p:nvSpPr>
          <p:spPr>
            <a:xfrm>
              <a:off x="5468214" y="5227681"/>
              <a:ext cx="3018178" cy="1313979"/>
            </a:xfrm>
            <a:prstGeom prst="roundRect">
              <a:avLst>
                <a:gd name="adj" fmla="val 4226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DCCC3E5D-7954-8B8C-7B01-819EF30E7E78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6997427" y="656042"/>
              <a:ext cx="3" cy="1907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E7F11966-A0EF-5149-F6EF-D922BC15CF7E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6986397" y="1502709"/>
              <a:ext cx="11030" cy="1786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25DAC457-7246-908D-C411-86F673C5D1C7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6977303" y="2191089"/>
              <a:ext cx="9094" cy="24768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147C4670-5EDC-8916-C62F-524C9297D59B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997426" y="3106289"/>
              <a:ext cx="5513" cy="2008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5777DE5D-5598-2B4A-5431-A92781844717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6991910" y="3790263"/>
              <a:ext cx="11030" cy="1794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B7F897B3-0893-41A6-F0A1-C78587360A73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6997426" y="4418185"/>
              <a:ext cx="5514" cy="1873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C5EDEBB0-A7CA-83B8-4E1A-097673372F86}"/>
                </a:ext>
              </a:extLst>
            </p:cNvPr>
            <p:cNvCxnSpPr>
              <a:cxnSpLocks/>
              <a:stCxn id="14" idx="2"/>
              <a:endCxn id="11" idx="0"/>
            </p:cNvCxnSpPr>
            <p:nvPr/>
          </p:nvCxnSpPr>
          <p:spPr>
            <a:xfrm>
              <a:off x="6997428" y="5147214"/>
              <a:ext cx="9731" cy="2001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5F6C46B3-2C35-6F62-50F1-9D7480663387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flipH="1">
              <a:off x="6997426" y="6028815"/>
              <a:ext cx="9733" cy="1444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48F0484E-9859-BE92-86C6-07397A28B7B6}"/>
                </a:ext>
              </a:extLst>
            </p:cNvPr>
            <p:cNvCxnSpPr>
              <a:cxnSpLocks/>
              <a:stCxn id="4" idx="3"/>
              <a:endCxn id="44" idx="1"/>
            </p:cNvCxnSpPr>
            <p:nvPr/>
          </p:nvCxnSpPr>
          <p:spPr>
            <a:xfrm>
              <a:off x="7898860" y="380473"/>
              <a:ext cx="138278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91A07550-C2A8-40CA-AB65-E27F18376288}"/>
                </a:ext>
              </a:extLst>
            </p:cNvPr>
            <p:cNvSpPr/>
            <p:nvPr/>
          </p:nvSpPr>
          <p:spPr>
            <a:xfrm>
              <a:off x="9281644" y="152204"/>
              <a:ext cx="1533213" cy="4565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000" b="1" dirty="0" err="1">
                  <a:solidFill>
                    <a:schemeClr val="tx1"/>
                  </a:solidFill>
                </a:rPr>
                <a:t>Database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s-PE" sz="1000" dirty="0" err="1">
                  <a:solidFill>
                    <a:schemeClr val="tx1"/>
                  </a:solidFill>
                </a:rPr>
                <a:t>Scopus</a:t>
              </a:r>
              <a:endParaRPr lang="es-PE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976A63DD-76EE-B307-CED2-0AF1AF2FDB1D}"/>
                </a:ext>
              </a:extLst>
            </p:cNvPr>
            <p:cNvCxnSpPr>
              <a:cxnSpLocks/>
              <a:stCxn id="7" idx="3"/>
              <a:endCxn id="49" idx="1"/>
            </p:cNvCxnSpPr>
            <p:nvPr/>
          </p:nvCxnSpPr>
          <p:spPr>
            <a:xfrm>
              <a:off x="8358654" y="2766705"/>
              <a:ext cx="922990" cy="0"/>
            </a:xfrm>
            <a:prstGeom prst="line">
              <a:avLst/>
            </a:prstGeom>
            <a:ln w="19050" cap="flat" cmpd="sng" algn="ctr">
              <a:solidFill>
                <a:schemeClr val="accent6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09A7BAEF-4866-FB81-F7E2-99AE6E70613C}"/>
                </a:ext>
              </a:extLst>
            </p:cNvPr>
            <p:cNvCxnSpPr>
              <a:cxnSpLocks/>
              <a:stCxn id="9" idx="3"/>
              <a:endCxn id="50" idx="1"/>
            </p:cNvCxnSpPr>
            <p:nvPr/>
          </p:nvCxnSpPr>
          <p:spPr>
            <a:xfrm>
              <a:off x="7904370" y="4211249"/>
              <a:ext cx="1377273" cy="0"/>
            </a:xfrm>
            <a:prstGeom prst="line">
              <a:avLst/>
            </a:prstGeom>
            <a:ln w="19050" cap="flat" cmpd="sng" algn="ctr">
              <a:solidFill>
                <a:schemeClr val="accent6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8D271A77-02D2-6C57-316E-FF804C7AAB81}"/>
                </a:ext>
              </a:extLst>
            </p:cNvPr>
            <p:cNvSpPr/>
            <p:nvPr/>
          </p:nvSpPr>
          <p:spPr>
            <a:xfrm>
              <a:off x="9281644" y="2491931"/>
              <a:ext cx="1533214" cy="5495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000" b="1" dirty="0" err="1">
                  <a:solidFill>
                    <a:schemeClr val="tx1"/>
                  </a:solidFill>
                </a:rPr>
                <a:t>Inclusion</a:t>
              </a:r>
              <a:r>
                <a:rPr lang="es-PE" sz="1000" b="1" dirty="0">
                  <a:solidFill>
                    <a:schemeClr val="tx1"/>
                  </a:solidFill>
                </a:rPr>
                <a:t> criterio</a:t>
              </a:r>
            </a:p>
            <a:p>
              <a:pPr algn="ctr"/>
              <a:r>
                <a:rPr lang="es-PE" sz="1000" dirty="0" err="1">
                  <a:solidFill>
                    <a:schemeClr val="tx1"/>
                  </a:solidFill>
                </a:rPr>
                <a:t>Based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  <a:r>
                <a:rPr lang="es-PE" sz="1000" dirty="0" err="1">
                  <a:solidFill>
                    <a:schemeClr val="tx1"/>
                  </a:solidFill>
                </a:rPr>
                <a:t>on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  <a:r>
                <a:rPr lang="es-PE" sz="1000" dirty="0" err="1">
                  <a:solidFill>
                    <a:schemeClr val="tx1"/>
                  </a:solidFill>
                </a:rPr>
                <a:t>predenfined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  <a:r>
                <a:rPr lang="es-PE" sz="1000" dirty="0" err="1">
                  <a:solidFill>
                    <a:schemeClr val="tx1"/>
                  </a:solidFill>
                </a:rPr>
                <a:t>elegibility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  <a:r>
                <a:rPr lang="es-PE" sz="1000" dirty="0" err="1">
                  <a:solidFill>
                    <a:schemeClr val="tx1"/>
                  </a:solidFill>
                </a:rPr>
                <a:t>criteria</a:t>
              </a:r>
              <a:endParaRPr lang="es-PE" sz="10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ángulo: esquinas redondeadas 49">
              <a:extLst>
                <a:ext uri="{FF2B5EF4-FFF2-40B4-BE49-F238E27FC236}">
                  <a16:creationId xmlns:a16="http://schemas.microsoft.com/office/drawing/2014/main" id="{B9DA4B51-8749-6147-B18C-01C3EBAACC33}"/>
                </a:ext>
              </a:extLst>
            </p:cNvPr>
            <p:cNvSpPr/>
            <p:nvPr/>
          </p:nvSpPr>
          <p:spPr>
            <a:xfrm>
              <a:off x="9281643" y="3982980"/>
              <a:ext cx="1533213" cy="4565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000" dirty="0" err="1">
                  <a:solidFill>
                    <a:schemeClr val="tx1"/>
                  </a:solidFill>
                </a:rPr>
                <a:t>Duplicate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  <a:r>
                <a:rPr lang="es-PE" sz="1000" dirty="0" err="1">
                  <a:solidFill>
                    <a:schemeClr val="tx1"/>
                  </a:solidFill>
                </a:rPr>
                <a:t>identification</a:t>
              </a:r>
              <a:r>
                <a:rPr lang="es-PE" sz="10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0" name="Rectángulo: esquinas redondeadas 69">
              <a:extLst>
                <a:ext uri="{FF2B5EF4-FFF2-40B4-BE49-F238E27FC236}">
                  <a16:creationId xmlns:a16="http://schemas.microsoft.com/office/drawing/2014/main" id="{AD835AEA-5CE9-5933-C2FE-648842BBE61C}"/>
                </a:ext>
              </a:extLst>
            </p:cNvPr>
            <p:cNvSpPr/>
            <p:nvPr/>
          </p:nvSpPr>
          <p:spPr>
            <a:xfrm>
              <a:off x="9302510" y="5119053"/>
              <a:ext cx="1533213" cy="1422607"/>
            </a:xfrm>
            <a:prstGeom prst="roundRect">
              <a:avLst>
                <a:gd name="adj" fmla="val 6908"/>
              </a:avLst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1000" b="1" dirty="0">
                  <a:solidFill>
                    <a:srgbClr val="002060"/>
                  </a:solidFill>
                </a:rPr>
                <a:t>Software</a:t>
              </a:r>
            </a:p>
            <a:p>
              <a:pPr algn="ctr"/>
              <a:endParaRPr lang="es-PE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s-PE" sz="1000" dirty="0" err="1">
                  <a:solidFill>
                    <a:schemeClr val="tx1"/>
                  </a:solidFill>
                </a:rPr>
                <a:t>Rstudio</a:t>
              </a:r>
              <a:endParaRPr lang="es-PE" sz="1000" dirty="0">
                <a:solidFill>
                  <a:schemeClr val="tx1"/>
                </a:solidFill>
              </a:endParaRPr>
            </a:p>
            <a:p>
              <a:endParaRPr lang="es-PE" sz="1000" dirty="0">
                <a:solidFill>
                  <a:schemeClr val="tx1"/>
                </a:solidFill>
              </a:endParaRPr>
            </a:p>
            <a:p>
              <a:pPr algn="ctr"/>
              <a:r>
                <a:rPr lang="es-PE" sz="1000" dirty="0">
                  <a:solidFill>
                    <a:schemeClr val="tx1"/>
                  </a:solidFill>
                </a:rPr>
                <a:t>                </a:t>
              </a:r>
              <a:r>
                <a:rPr lang="es-PE" sz="1000" dirty="0" err="1">
                  <a:solidFill>
                    <a:schemeClr val="tx1"/>
                  </a:solidFill>
                </a:rPr>
                <a:t>Bibliometrix</a:t>
              </a:r>
              <a:r>
                <a:rPr lang="es-PE" sz="1000" dirty="0">
                  <a:solidFill>
                    <a:schemeClr val="tx1"/>
                  </a:solidFill>
                </a:rPr>
                <a:t> (R)</a:t>
              </a:r>
            </a:p>
            <a:p>
              <a:pPr algn="ctr"/>
              <a:endParaRPr lang="es-PE" sz="1000" dirty="0">
                <a:solidFill>
                  <a:schemeClr val="tx1"/>
                </a:solidFill>
              </a:endParaRPr>
            </a:p>
            <a:p>
              <a:pPr algn="ctr"/>
              <a:r>
                <a:rPr lang="es-PE" sz="1000" dirty="0">
                  <a:solidFill>
                    <a:schemeClr val="tx1"/>
                  </a:solidFill>
                </a:rPr>
                <a:t>      </a:t>
              </a:r>
              <a:r>
                <a:rPr lang="es-PE" sz="1000" dirty="0" err="1">
                  <a:solidFill>
                    <a:schemeClr val="tx1"/>
                  </a:solidFill>
                </a:rPr>
                <a:t>VOSviewer</a:t>
              </a:r>
              <a:endParaRPr lang="es-PE" sz="1000" dirty="0">
                <a:solidFill>
                  <a:schemeClr val="tx1"/>
                </a:solidFill>
              </a:endParaRPr>
            </a:p>
            <a:p>
              <a:pPr algn="ctr"/>
              <a:endParaRPr lang="es-PE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363A3321-529E-4569-9524-71A0AC219941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7898856" y="6330144"/>
              <a:ext cx="1403654" cy="0"/>
            </a:xfrm>
            <a:prstGeom prst="line">
              <a:avLst/>
            </a:prstGeom>
            <a:ln w="19050" cap="flat" cmpd="sng" algn="ctr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1C484BB3-4F9F-BA02-9228-ED1D9181B1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3475" y="5504679"/>
              <a:ext cx="194977" cy="151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Bibliometrix">
              <a:extLst>
                <a:ext uri="{FF2B5EF4-FFF2-40B4-BE49-F238E27FC236}">
                  <a16:creationId xmlns:a16="http://schemas.microsoft.com/office/drawing/2014/main" id="{D5F64828-0AB8-306C-3D30-8BD9AE1DC2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2347" y="5746054"/>
              <a:ext cx="277232" cy="2772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Imagen 72">
              <a:extLst>
                <a:ext uri="{FF2B5EF4-FFF2-40B4-BE49-F238E27FC236}">
                  <a16:creationId xmlns:a16="http://schemas.microsoft.com/office/drawing/2014/main" id="{68C13EC7-6344-A04C-621F-669D35F56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646"/>
            <a:stretch/>
          </p:blipFill>
          <p:spPr>
            <a:xfrm>
              <a:off x="9531196" y="6052911"/>
              <a:ext cx="259533" cy="277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50237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Panorámica</PresentationFormat>
  <Paragraphs>33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Hugo Baldera Chapoñan</dc:creator>
  <cp:lastModifiedBy>Victor Hugo Baldera Chapoñan</cp:lastModifiedBy>
  <cp:revision>1</cp:revision>
  <dcterms:created xsi:type="dcterms:W3CDTF">2026-07-15T22:38:53Z</dcterms:created>
  <dcterms:modified xsi:type="dcterms:W3CDTF">2026-07-15T22:39:17Z</dcterms:modified>
</cp:coreProperties>
</file>